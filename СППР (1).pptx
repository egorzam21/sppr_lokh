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ans Medium" panose="020B0604020202020204" charset="0"/>
      <p:regular r:id="rId16"/>
    </p:embeddedFont>
    <p:embeddedFont>
      <p:font typeface="Inter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DB810-B0B3-4303-9B0F-0A9C9BFD6A02}" v="16" dt="2025-12-05T00:10:09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dfsdf FHtnv" userId="12b329412accc949" providerId="LiveId" clId="{C8A3808F-C961-4DFA-8C72-F3E211F81344}"/>
    <pc:docChg chg="custSel modSld">
      <pc:chgData name="saddfsdf FHtnv" userId="12b329412accc949" providerId="LiveId" clId="{C8A3808F-C961-4DFA-8C72-F3E211F81344}" dt="2025-12-05T00:16:57.335" v="113" actId="1076"/>
      <pc:docMkLst>
        <pc:docMk/>
      </pc:docMkLst>
      <pc:sldChg chg="addSp modSp mod">
        <pc:chgData name="saddfsdf FHtnv" userId="12b329412accc949" providerId="LiveId" clId="{C8A3808F-C961-4DFA-8C72-F3E211F81344}" dt="2025-12-05T00:14:14.630" v="108" actId="255"/>
        <pc:sldMkLst>
          <pc:docMk/>
          <pc:sldMk cId="0" sldId="256"/>
        </pc:sldMkLst>
        <pc:spChg chg="mod">
          <ac:chgData name="saddfsdf FHtnv" userId="12b329412accc949" providerId="LiveId" clId="{C8A3808F-C961-4DFA-8C72-F3E211F81344}" dt="2025-12-05T00:10:37.394" v="87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14.630" v="108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10.141" v="107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06.284" v="106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01.573" v="105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57.781" v="104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52.469" v="103" actId="255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24.875" v="86" actId="1076"/>
          <ac:spMkLst>
            <pc:docMk/>
            <pc:sldMk cId="0" sldId="256"/>
            <ac:spMk id="10" creationId="{B8805800-F55C-B6DC-55B6-9D72C68E7131}"/>
          </ac:spMkLst>
        </pc:spChg>
      </pc:sldChg>
      <pc:sldChg chg="addSp delSp modSp mod">
        <pc:chgData name="saddfsdf FHtnv" userId="12b329412accc949" providerId="LiveId" clId="{C8A3808F-C961-4DFA-8C72-F3E211F81344}" dt="2025-12-05T00:13:27.856" v="102" actId="255"/>
        <pc:sldMkLst>
          <pc:docMk/>
          <pc:sldMk cId="0" sldId="257"/>
        </pc:sldMkLst>
        <pc:spChg chg="mod">
          <ac:chgData name="saddfsdf FHtnv" userId="12b329412accc949" providerId="LiveId" clId="{C8A3808F-C961-4DFA-8C72-F3E211F81344}" dt="2025-12-05T00:10:43.485" v="88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27.856" v="102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27.856" v="102" actId="255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saddfsdf FHtnv" userId="12b329412accc949" providerId="LiveId" clId="{C8A3808F-C961-4DFA-8C72-F3E211F81344}" dt="2025-12-05T00:08:42.799" v="37" actId="21"/>
          <ac:spMkLst>
            <pc:docMk/>
            <pc:sldMk cId="0" sldId="257"/>
            <ac:spMk id="6" creationId="{DFFF2843-AC4D-05DB-6312-7CC8C83EAE68}"/>
          </ac:spMkLst>
        </pc:spChg>
        <pc:spChg chg="add del mod">
          <ac:chgData name="saddfsdf FHtnv" userId="12b329412accc949" providerId="LiveId" clId="{C8A3808F-C961-4DFA-8C72-F3E211F81344}" dt="2025-12-05T00:08:02.025" v="11"/>
          <ac:spMkLst>
            <pc:docMk/>
            <pc:sldMk cId="0" sldId="257"/>
            <ac:spMk id="7" creationId="{44CCA61F-D0E8-A278-F8C7-FDC40FEC446D}"/>
          </ac:spMkLst>
        </pc:spChg>
        <pc:spChg chg="add mod">
          <ac:chgData name="saddfsdf FHtnv" userId="12b329412accc949" providerId="LiveId" clId="{C8A3808F-C961-4DFA-8C72-F3E211F81344}" dt="2025-12-05T00:08:43.940" v="38"/>
          <ac:spMkLst>
            <pc:docMk/>
            <pc:sldMk cId="0" sldId="257"/>
            <ac:spMk id="8" creationId="{DFFF2843-AC4D-05DB-6312-7CC8C83EAE68}"/>
          </ac:spMkLst>
        </pc:spChg>
        <pc:spChg chg="add mod">
          <ac:chgData name="saddfsdf FHtnv" userId="12b329412accc949" providerId="LiveId" clId="{C8A3808F-C961-4DFA-8C72-F3E211F81344}" dt="2025-12-05T00:09:30.376" v="64" actId="1076"/>
          <ac:spMkLst>
            <pc:docMk/>
            <pc:sldMk cId="0" sldId="257"/>
            <ac:spMk id="9" creationId="{D2D827D9-F953-0FA3-D574-77EAE84A5249}"/>
          </ac:spMkLst>
        </pc:spChg>
      </pc:sldChg>
      <pc:sldChg chg="addSp modSp mod">
        <pc:chgData name="saddfsdf FHtnv" userId="12b329412accc949" providerId="LiveId" clId="{C8A3808F-C961-4DFA-8C72-F3E211F81344}" dt="2025-12-05T00:13:13.923" v="101" actId="255"/>
        <pc:sldMkLst>
          <pc:docMk/>
          <pc:sldMk cId="0" sldId="258"/>
        </pc:sldMkLst>
        <pc:spChg chg="mod">
          <ac:chgData name="saddfsdf FHtnv" userId="12b329412accc949" providerId="LiveId" clId="{C8A3808F-C961-4DFA-8C72-F3E211F81344}" dt="2025-12-05T00:10:51.727" v="89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32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6.042" v="4"/>
          <ac:spMkLst>
            <pc:docMk/>
            <pc:sldMk cId="0" sldId="258"/>
            <ac:spMk id="33" creationId="{1C2CA324-1316-4E37-E294-55D494A2C74D}"/>
          </ac:spMkLst>
        </pc:spChg>
        <pc:spChg chg="add mod">
          <ac:chgData name="saddfsdf FHtnv" userId="12b329412accc949" providerId="LiveId" clId="{C8A3808F-C961-4DFA-8C72-F3E211F81344}" dt="2025-12-05T00:09:39.288" v="67" actId="20577"/>
          <ac:spMkLst>
            <pc:docMk/>
            <pc:sldMk cId="0" sldId="258"/>
            <ac:spMk id="34" creationId="{6DDC875A-1FC9-0560-1C86-BD070F3ADF6F}"/>
          </ac:spMkLst>
        </pc:spChg>
      </pc:sldChg>
      <pc:sldChg chg="addSp modSp mod">
        <pc:chgData name="saddfsdf FHtnv" userId="12b329412accc949" providerId="LiveId" clId="{C8A3808F-C961-4DFA-8C72-F3E211F81344}" dt="2025-12-05T00:13:01.548" v="100" actId="255"/>
        <pc:sldMkLst>
          <pc:docMk/>
          <pc:sldMk cId="0" sldId="259"/>
        </pc:sldMkLst>
        <pc:spChg chg="mod">
          <ac:chgData name="saddfsdf FHtnv" userId="12b329412accc949" providerId="LiveId" clId="{C8A3808F-C961-4DFA-8C72-F3E211F81344}" dt="2025-12-05T00:11:05.424" v="90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01.548" v="100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01.548" v="100" actId="255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8.024" v="5"/>
          <ac:spMkLst>
            <pc:docMk/>
            <pc:sldMk cId="0" sldId="259"/>
            <ac:spMk id="6" creationId="{803FD68B-D3FD-782B-4390-4906D1010886}"/>
          </ac:spMkLst>
        </pc:spChg>
        <pc:spChg chg="add mod">
          <ac:chgData name="saddfsdf FHtnv" userId="12b329412accc949" providerId="LiveId" clId="{C8A3808F-C961-4DFA-8C72-F3E211F81344}" dt="2025-12-05T00:09:44.975" v="70" actId="20577"/>
          <ac:spMkLst>
            <pc:docMk/>
            <pc:sldMk cId="0" sldId="259"/>
            <ac:spMk id="7" creationId="{E0995561-10E4-038C-D01A-677EA5A3D9D7}"/>
          </ac:spMkLst>
        </pc:spChg>
      </pc:sldChg>
      <pc:sldChg chg="addSp modSp mod">
        <pc:chgData name="saddfsdf FHtnv" userId="12b329412accc949" providerId="LiveId" clId="{C8A3808F-C961-4DFA-8C72-F3E211F81344}" dt="2025-12-05T00:12:52.131" v="99" actId="255"/>
        <pc:sldMkLst>
          <pc:docMk/>
          <pc:sldMk cId="0" sldId="260"/>
        </pc:sldMkLst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9.615" v="6"/>
          <ac:spMkLst>
            <pc:docMk/>
            <pc:sldMk cId="0" sldId="260"/>
            <ac:spMk id="21" creationId="{DBDBC398-951E-594D-AF48-9B20D311BC8C}"/>
          </ac:spMkLst>
        </pc:spChg>
        <pc:spChg chg="add mod">
          <ac:chgData name="saddfsdf FHtnv" userId="12b329412accc949" providerId="LiveId" clId="{C8A3808F-C961-4DFA-8C72-F3E211F81344}" dt="2025-12-05T00:09:48.970" v="73" actId="20577"/>
          <ac:spMkLst>
            <pc:docMk/>
            <pc:sldMk cId="0" sldId="260"/>
            <ac:spMk id="22" creationId="{36A1BC39-5F55-5E72-F65C-5F2C7CC739F4}"/>
          </ac:spMkLst>
        </pc:spChg>
      </pc:sldChg>
      <pc:sldChg chg="addSp modSp mod">
        <pc:chgData name="saddfsdf FHtnv" userId="12b329412accc949" providerId="LiveId" clId="{C8A3808F-C961-4DFA-8C72-F3E211F81344}" dt="2025-12-05T00:16:24.762" v="111" actId="1076"/>
        <pc:sldMkLst>
          <pc:docMk/>
          <pc:sldMk cId="0" sldId="261"/>
        </pc:sldMkLst>
        <pc:spChg chg="mod">
          <ac:chgData name="saddfsdf FHtnv" userId="12b329412accc949" providerId="LiveId" clId="{C8A3808F-C961-4DFA-8C72-F3E211F81344}" dt="2025-12-05T00:11:38.501" v="92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9.121" v="11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24.762" v="111" actId="1076"/>
          <ac:spMkLst>
            <pc:docMk/>
            <pc:sldMk cId="0" sldId="261"/>
            <ac:spMk id="1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31.902" v="7"/>
          <ac:spMkLst>
            <pc:docMk/>
            <pc:sldMk cId="0" sldId="261"/>
            <ac:spMk id="16" creationId="{9BCF9F54-C9C7-E499-1298-1DF70C3AE644}"/>
          </ac:spMkLst>
        </pc:spChg>
        <pc:spChg chg="add mod">
          <ac:chgData name="saddfsdf FHtnv" userId="12b329412accc949" providerId="LiveId" clId="{C8A3808F-C961-4DFA-8C72-F3E211F81344}" dt="2025-12-05T00:09:53.949" v="76" actId="20577"/>
          <ac:spMkLst>
            <pc:docMk/>
            <pc:sldMk cId="0" sldId="261"/>
            <ac:spMk id="17" creationId="{41266D8A-6B90-389C-B2A6-3F207A5A168C}"/>
          </ac:spMkLst>
        </pc:spChg>
      </pc:sldChg>
      <pc:sldChg chg="addSp modSp mod">
        <pc:chgData name="saddfsdf FHtnv" userId="12b329412accc949" providerId="LiveId" clId="{C8A3808F-C961-4DFA-8C72-F3E211F81344}" dt="2025-12-05T00:12:07.391" v="95" actId="255"/>
        <pc:sldMkLst>
          <pc:docMk/>
          <pc:sldMk cId="0" sldId="262"/>
        </pc:sldMkLst>
        <pc:spChg chg="mod">
          <ac:chgData name="saddfsdf FHtnv" userId="12b329412accc949" providerId="LiveId" clId="{C8A3808F-C961-4DFA-8C72-F3E211F81344}" dt="2025-12-05T00:11:48.442" v="93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07.391" v="95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02.248" v="94" actId="255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01.897" v="79" actId="20577"/>
          <ac:spMkLst>
            <pc:docMk/>
            <pc:sldMk cId="0" sldId="262"/>
            <ac:spMk id="7" creationId="{D1EED047-3FCC-EEA9-3707-8A674984F1E8}"/>
          </ac:spMkLst>
        </pc:spChg>
      </pc:sldChg>
      <pc:sldChg chg="addSp modSp mod">
        <pc:chgData name="saddfsdf FHtnv" userId="12b329412accc949" providerId="LiveId" clId="{C8A3808F-C961-4DFA-8C72-F3E211F81344}" dt="2025-12-05T00:10:06.987" v="82" actId="20577"/>
        <pc:sldMkLst>
          <pc:docMk/>
          <pc:sldMk cId="0" sldId="263"/>
        </pc:sldMkLst>
        <pc:spChg chg="add mod">
          <ac:chgData name="saddfsdf FHtnv" userId="12b329412accc949" providerId="LiveId" clId="{C8A3808F-C961-4DFA-8C72-F3E211F81344}" dt="2025-12-05T00:07:36.298" v="8"/>
          <ac:spMkLst>
            <pc:docMk/>
            <pc:sldMk cId="0" sldId="263"/>
            <ac:spMk id="15" creationId="{A29375B5-4AAD-C7F5-A0AB-A68416A35FAC}"/>
          </ac:spMkLst>
        </pc:spChg>
        <pc:spChg chg="add mod">
          <ac:chgData name="saddfsdf FHtnv" userId="12b329412accc949" providerId="LiveId" clId="{C8A3808F-C961-4DFA-8C72-F3E211F81344}" dt="2025-12-05T00:10:06.987" v="82" actId="20577"/>
          <ac:spMkLst>
            <pc:docMk/>
            <pc:sldMk cId="0" sldId="263"/>
            <ac:spMk id="16" creationId="{2B70321D-E7B0-4BDC-FDB6-4D334BF1578F}"/>
          </ac:spMkLst>
        </pc:spChg>
      </pc:sldChg>
      <pc:sldChg chg="addSp modSp mod">
        <pc:chgData name="saddfsdf FHtnv" userId="12b329412accc949" providerId="LiveId" clId="{C8A3808F-C961-4DFA-8C72-F3E211F81344}" dt="2025-12-05T00:16:57.335" v="113" actId="1076"/>
        <pc:sldMkLst>
          <pc:docMk/>
          <pc:sldMk cId="0" sldId="264"/>
        </pc:sldMkLst>
        <pc:spChg chg="mod">
          <ac:chgData name="saddfsdf FHtnv" userId="12b329412accc949" providerId="LiveId" clId="{C8A3808F-C961-4DFA-8C72-F3E211F81344}" dt="2025-12-05T00:16:53.570" v="112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57.335" v="113" actId="1076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11.280" v="85" actId="20577"/>
          <ac:spMkLst>
            <pc:docMk/>
            <pc:sldMk cId="0" sldId="264"/>
            <ac:spMk id="6" creationId="{320C5DBF-7381-392F-803F-85E96D38BC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30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main.py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498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Интеллектуальная система поддержки принятия решений для торговли акциями ПАО «Лукойл»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702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Российский университет дружбы народов имени Патриса Лумумбы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0190" y="49512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Факультет физико-математических и естественных наук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0190" y="55692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Работу выполняли: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80190" y="61873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Замула Егор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80190" y="66295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Шмавонян Диана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80190" y="70717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Зеленко Ирина</a:t>
            </a:r>
            <a:endParaRPr lang="en-US" sz="24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805800-F55C-B6DC-55B6-9D72C68E7131}"/>
              </a:ext>
            </a:extLst>
          </p:cNvPr>
          <p:cNvSpPr/>
          <p:nvPr/>
        </p:nvSpPr>
        <p:spPr>
          <a:xfrm>
            <a:off x="12664966" y="765153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73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Цели проекта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229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Разработка интеллектуальной системы поддержки принятия решений (СППР) для торговли акциями ПАО «Лукойл».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80190" y="44038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Система основана на специализированной Large Language Model (LLM), обученной на мультимодальных финансовых данных, что позволяет автоматизировать процесс принятия инвестиционных решений с высокой точностью.</a:t>
            </a:r>
            <a:endParaRPr lang="en-US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FF2843-AC4D-05DB-6312-7CC8C83EAE68}"/>
              </a:ext>
            </a:extLst>
          </p:cNvPr>
          <p:cNvSpPr/>
          <p:nvPr/>
        </p:nvSpPr>
        <p:spPr>
          <a:xfrm>
            <a:off x="12801600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827D9-F953-0FA3-D574-77EAE84A5249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2</a:t>
            </a:r>
            <a:r>
              <a:rPr lang="en-US" sz="3200" dirty="0"/>
              <a:t>/9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5001697" cy="62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Задачи проекта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77954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4" name="Shape 2"/>
          <p:cNvSpPr/>
          <p:nvPr/>
        </p:nvSpPr>
        <p:spPr>
          <a:xfrm>
            <a:off x="777954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5" name="Shape 3"/>
          <p:cNvSpPr/>
          <p:nvPr/>
        </p:nvSpPr>
        <p:spPr>
          <a:xfrm>
            <a:off x="2590264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0287" y="1816537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839" y="2436614"/>
            <a:ext cx="37790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Разработка и внедрение метрик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0839" y="3181707"/>
            <a:ext cx="37790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Создание KPI для оценки точности прогнозов, доходности стратегии и эффективности модели, а также их интеграция в рабочий конвейер с дашбордами и алертингом.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02793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10" name="Shape 7"/>
          <p:cNvSpPr/>
          <p:nvPr/>
        </p:nvSpPr>
        <p:spPr>
          <a:xfrm>
            <a:off x="5202793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11" name="Shape 8"/>
          <p:cNvSpPr/>
          <p:nvPr/>
        </p:nvSpPr>
        <p:spPr>
          <a:xfrm>
            <a:off x="7015103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5125" y="1816537"/>
            <a:ext cx="240030" cy="2400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5678" y="2436614"/>
            <a:ext cx="27632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Анализ OHLCV данных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25678" y="2869168"/>
            <a:ext cx="37790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Сбор, очистка и обработка исторических рыночных данных (цена, объем), создание технических индикаторов и признаков для моделей.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627632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627632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9942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9964" y="1816537"/>
            <a:ext cx="240030" cy="2400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50517" y="2436614"/>
            <a:ext cx="37790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Разработка и оптимизация моделей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850517" y="3181707"/>
            <a:ext cx="37790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Создание ансамбля ML-моделей для прогнозирования, их тестирование и валидация на исторических данных.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77954" y="5504855"/>
            <a:ext cx="6437233" cy="2115622"/>
          </a:xfrm>
          <a:prstGeom prst="roundRect">
            <a:avLst>
              <a:gd name="adj" fmla="val 5187"/>
            </a:avLst>
          </a:prstGeom>
          <a:solidFill>
            <a:srgbClr val="F9F8F5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954" y="5481995"/>
            <a:ext cx="6437233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23" name="Shape 18"/>
          <p:cNvSpPr/>
          <p:nvPr/>
        </p:nvSpPr>
        <p:spPr>
          <a:xfrm>
            <a:off x="3696474" y="5204817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6496" y="5384840"/>
            <a:ext cx="240030" cy="2400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0839" y="6004917"/>
            <a:ext cx="250078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Интеграция с T-API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000839" y="6437471"/>
            <a:ext cx="59914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Подключение к торговому API Tinkoff для автоматизации исполнения сделок, управления ордерами и контроля рисков.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415213" y="5504855"/>
            <a:ext cx="6437233" cy="2115622"/>
          </a:xfrm>
          <a:prstGeom prst="roundRect">
            <a:avLst>
              <a:gd name="adj" fmla="val 5187"/>
            </a:avLst>
          </a:prstGeom>
          <a:solidFill>
            <a:srgbClr val="F9F8F5"/>
          </a:solidFill>
          <a:ln/>
        </p:spPr>
      </p:sp>
      <p:sp>
        <p:nvSpPr>
          <p:cNvPr id="28" name="Shape 22"/>
          <p:cNvSpPr/>
          <p:nvPr/>
        </p:nvSpPr>
        <p:spPr>
          <a:xfrm>
            <a:off x="7415213" y="5481995"/>
            <a:ext cx="6437233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33732" y="5204817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3755" y="5384840"/>
            <a:ext cx="240030" cy="2400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38098" y="6004917"/>
            <a:ext cx="329886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СППР в реальном времени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7638098" y="6437471"/>
            <a:ext cx="59914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Разработка ядра системы, непрерывно анализирующего новые данные и генерирующего торговые сигналы с обоснованием.</a:t>
            </a:r>
            <a:endParaRPr lang="en-US" sz="2000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C2CA324-1316-4E37-E294-55D494A2C74D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DC875A-1FC9-0560-1C86-BD070F3ADF6F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3/9</a:t>
            </a:r>
            <a:endParaRPr lang="ru-RU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7854"/>
            <a:ext cx="7672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Этапы реализации: </a:t>
            </a:r>
            <a:r>
              <a:rPr lang="en-US" sz="4450" u="sng" dirty="0">
                <a:solidFill>
                  <a:srgbClr val="28282F"/>
                </a:solidFill>
                <a:ea typeface="DM Sans Medium" pitchFamily="34" charset="-122"/>
                <a:cs typeface="DM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main.py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36795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Код </a:t>
            </a:r>
            <a:r>
              <a:rPr lang="en-US" sz="2400" dirty="0">
                <a:solidFill>
                  <a:srgbClr val="161613"/>
                </a:solidFill>
                <a:highlight>
                  <a:srgbClr val="ECEBE8"/>
                </a:highlight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 является основной частью нашей торговой системы, отвечающей за обучение, оптимизацию и проверку торговой стратегии.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93790" y="582537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Он обрабатывает исторические данные, создает сложные признаки, обучает ансамбль моделей для прогнозирования доходности акций. Затем система подбирает оптимальные параметры для сделок (стоп-лосс, тейк-профит) и проводит тестирование стратегии на исторических данных. Результат — готовая модель с оптимальными настройками для генерации торговых сигналов.</a:t>
            </a:r>
            <a:endParaRPr lang="en-US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3FD68B-D3FD-782B-4390-4906D1010886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95561-10E4-038C-D01A-677EA5A3D9D7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4/9</a:t>
            </a:r>
            <a:endParaRPr lang="ru-RU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501"/>
            <a:ext cx="564892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Основные модули системы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262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 err="1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Backtest</a:t>
            </a: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/ backtester.py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162056"/>
            <a:ext cx="6313884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Движок для тестирования торговой стратегии на исторических данных. Симулирует сделки с учетом параметров и рассчитывает метрики эффективности.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148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 err="1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Backtest</a:t>
            </a: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/ executor.py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584377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Симулирует реалистичное исполнение торгового приказа, учитывая проскальзывание и вероятность исполнения лимитных заявок.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42987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Config/ params.py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734520"/>
            <a:ext cx="6313884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Файл конфигурации, хранящий настройки проекта: пути к данным, параметры тестирования, комиссии, проскальзывание и сетку оптимизации.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572107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Features/ engineer.py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90" y="6156841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Создает сложные признаки для обучения модели на основе исторических котировок, включая технические индикаторы и временные метки.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0346" y="17262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Features/ selector.py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0346" y="2162056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Отбирает 25 наиболее важных признаков для модели с помощью SelectKBest, уменьшая размерность данных.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0346" y="28764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Models/ ensemble.py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0346" y="3312200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Создает ансамбль из случайного леса и градиентного бустинга, объединяя их предсказания для финального прогноза.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0346" y="40265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Models/ optimizer.py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30346" y="4462343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Автоматически подбирает лучшие торговые параметры (стоп-лосс, тейк-профит, размер позиции) для максимальной доходности.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30346" y="517671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 err="1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Utils</a:t>
            </a: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/ io.py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30346" y="5612487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Загружает и подготавливает исторические данные из CSV-файла, проверяя наличие, преобразуя форматы и удаляя пропущенные значения.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30346" y="645973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Visualization/ plots.py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30346" y="6771559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Строит ценовой график с отметками сделок и кривую капитала стратегии, сохраняя визуализацию в файл.</a:t>
            </a:r>
            <a:endParaRPr lang="en-US" sz="16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DBC398-951E-594D-AF48-9B20D311BC8C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A1BC39-5F55-5E72-F65C-5F2C7CC739F4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5/9</a:t>
            </a:r>
            <a:endParaRPr lang="ru-RU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731" y="984766"/>
            <a:ext cx="7399615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data_file.py: запуск работы системы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26731" y="1767483"/>
            <a:ext cx="7663339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Код </a:t>
            </a:r>
            <a:r>
              <a:rPr lang="en-US" dirty="0">
                <a:solidFill>
                  <a:srgbClr val="161613"/>
                </a:solidFill>
                <a:highlight>
                  <a:srgbClr val="ECEBE8"/>
                </a:highlight>
                <a:ea typeface="Consolas" pitchFamily="34" charset="-122"/>
                <a:cs typeface="Consolas" pitchFamily="34" charset="-120"/>
              </a:rPr>
              <a:t>data_file.py</a:t>
            </a: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 выполняет две ключевые функции, обеспечивая непрерывную работу системы: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226731" y="2499122"/>
            <a:ext cx="7663339" cy="1922383"/>
          </a:xfrm>
          <a:prstGeom prst="roundRect">
            <a:avLst>
              <a:gd name="adj" fmla="val 1321"/>
            </a:avLst>
          </a:prstGeom>
          <a:solidFill>
            <a:srgbClr val="EDEBE3"/>
          </a:solidFill>
          <a:ln/>
        </p:spPr>
      </p:sp>
      <p:sp>
        <p:nvSpPr>
          <p:cNvPr id="6" name="Shape 3"/>
          <p:cNvSpPr/>
          <p:nvPr/>
        </p:nvSpPr>
        <p:spPr>
          <a:xfrm>
            <a:off x="6395918" y="2668310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28282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5579" y="2807970"/>
            <a:ext cx="228362" cy="2283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5918" y="3345180"/>
            <a:ext cx="2671167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Сбор и обработка данных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395918" y="3711059"/>
            <a:ext cx="73249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Загрузка и очистка минутных свечей акций «Лукойла» через Tinkoff API, сохранение в CSV и постоянное обновление потоковыми данными.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226731" y="4669643"/>
            <a:ext cx="7663339" cy="1922383"/>
          </a:xfrm>
          <a:prstGeom prst="roundRect">
            <a:avLst>
              <a:gd name="adj" fmla="val 1321"/>
            </a:avLst>
          </a:prstGeom>
          <a:solidFill>
            <a:srgbClr val="EDEBE3"/>
          </a:solidFill>
          <a:ln/>
        </p:spPr>
      </p:sp>
      <p:sp>
        <p:nvSpPr>
          <p:cNvPr id="11" name="Shape 7"/>
          <p:cNvSpPr/>
          <p:nvPr/>
        </p:nvSpPr>
        <p:spPr>
          <a:xfrm>
            <a:off x="6395918" y="4759881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28282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5579" y="4899541"/>
            <a:ext cx="228362" cy="228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5918" y="5436751"/>
            <a:ext cx="3137178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Генерация торговых сигналов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395918" y="5802630"/>
            <a:ext cx="73249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Использование предобученной модели для создания технических индикаторов, прогнозирования и выдачи сигналов (BUY/SELL/HOLD) в реальном времени.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226731" y="6771204"/>
            <a:ext cx="7663339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Система работает в бесконечном цикле, обеспечивая непрерывный мониторинг рынка и выдачу актуальных торговых рекомендаций.</a:t>
            </a:r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CF9F54-C9C7-E499-1298-1DF70C3AE644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66D8A-6B90-389C-B2A6-3F207A5A168C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6/9</a:t>
            </a:r>
            <a:endParaRPr lang="ru-RU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30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2697123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В ходе реализации проекта была разработана и протестирована полностью автоматизированная интеллектуальная система поддержки принятия решений (СППР) для торговли акциями ПАО «Лукойл».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93790" y="2441972"/>
            <a:ext cx="30480" cy="1961912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659035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Ключевым результатом является создание рабочего, замкнутого конвейера от сбора сырых рыночных данных до генерации конкретных торговых сигналов. Система демонстрирует практическую эффективность, подтвержденную положительной доходностью в ходе исторического тестирования и в режиме реального времени.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ED047-3FCC-EEA9-3707-8A674984F1E8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7/9</a:t>
            </a:r>
            <a:endParaRPr lang="ru-RU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122"/>
            <a:ext cx="9409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Технические достижения проекта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44529"/>
            <a:ext cx="6407944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201823"/>
            <a:ext cx="45134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Полный цикл обработки данных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692241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сбора минутных свечей через Tinkoff Invest API до очистки, расширенного инжиниринга признаков (более 50 индикаторов) и отбора наиболее значимых.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1944529"/>
            <a:ext cx="6408063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201823"/>
            <a:ext cx="4437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Стабильная прогнозная модель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2692241"/>
            <a:ext cx="58934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 и оптимизирован ансамбль ML-моделей для прогнозирования доходности на основе исторических данных OHLCV, устойчивый к переобучению благодаря кросс-валидации.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27959"/>
            <a:ext cx="6407944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885253"/>
            <a:ext cx="5471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Реалистичный механизм тестирования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375672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 бэктестинга учитывает комиссии, проскальзывание, вероятность исполнения заявок, стоп-лосс и тейк-профит, что позволило объективно оценить прибыльность стратегии.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27959"/>
            <a:ext cx="6408063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885253"/>
            <a:ext cx="5594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Автономность и непрерывность работы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375672"/>
            <a:ext cx="58934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функционирует в автоматическом режиме, обеспечивая непрерывный мониторинг рынка, обновление данных, расчет признаков, прогнозирование и выдачу сигналов BUY/SELL/HOLD без ручного вмешательства.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29375B5-4AAD-C7F5-A0AB-A68416A35FAC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0321D-E7B0-4BDC-FDB6-4D334BF1578F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8/9</a:t>
            </a:r>
            <a:endParaRPr lang="ru-RU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633"/>
            <a:ext cx="6540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Перспективы и выводы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7857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успешно достиг поставленной цели: создана автономная СППР, которая на основе анализа данных OHLCV предоставляет обоснованные торговые рекомендации, подтверждая свою жизнеспособность как инструмент для поддержки инвестиционных решений.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523420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Разработанная архитектура модульна и может быть адаптирована для анализа других финансовых инструментов, открывая широкие перспективы для дальнейшего развития и применения в различных сегментах финансового рынка.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C5DBF-7381-392F-803F-85E96D38BC84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9/9</a:t>
            </a:r>
            <a:endParaRPr lang="ru-RU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815</Words>
  <Application>Microsoft Office PowerPoint</Application>
  <PresentationFormat>Произвольный</PresentationFormat>
  <Paragraphs>82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DM Sans Medium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Егор Замула</cp:lastModifiedBy>
  <cp:revision>2</cp:revision>
  <dcterms:created xsi:type="dcterms:W3CDTF">2025-12-05T00:04:51Z</dcterms:created>
  <dcterms:modified xsi:type="dcterms:W3CDTF">2025-12-05T13:37:18Z</dcterms:modified>
</cp:coreProperties>
</file>